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3.png"/><Relationship Id="rId8" Type="http://schemas.openxmlformats.org/officeDocument/2006/relationships/image" Target="../media/image-6-3.png"/><Relationship Id="rId9" Type="http://schemas.openxmlformats.org/officeDocument/2006/relationships/image" Target="../media/image-6-1.png"/><Relationship Id="rId10" Type="http://schemas.openxmlformats.org/officeDocument/2006/relationships/image" Target="../media/image-6-3.png"/><Relationship Id="rId11" Type="http://schemas.openxmlformats.org/officeDocument/2006/relationships/image" Target="../media/image-6-1.png"/><Relationship Id="rId12" Type="http://schemas.openxmlformats.org/officeDocument/2006/relationships/image" Target="../media/image-6-3.png"/><Relationship Id="rId13" Type="http://schemas.openxmlformats.org/officeDocument/2006/relationships/image" Target="../media/image-6-1.png"/><Relationship Id="rId14" Type="http://schemas.openxmlformats.org/officeDocument/2006/relationships/image" Target="../media/image-6-1.png"/><Relationship Id="rId15" Type="http://schemas.openxmlformats.org/officeDocument/2006/relationships/image" Target="../media/image-6-1.png"/><Relationship Id="rId16" Type="http://schemas.openxmlformats.org/officeDocument/2006/relationships/image" Target="../media/image-6-3.png"/><Relationship Id="rId17" Type="http://schemas.openxmlformats.org/officeDocument/2006/relationships/image" Target="../media/image-6-1.png"/><Relationship Id="rId18" Type="http://schemas.openxmlformats.org/officeDocument/2006/relationships/image" Target="../media/image-6-2.png"/><Relationship Id="rId19" Type="http://schemas.openxmlformats.org/officeDocument/2006/relationships/image" Target="../media/image-6-3.png"/><Relationship Id="rId20" Type="http://schemas.openxmlformats.org/officeDocument/2006/relationships/image" Target="../media/image-6-3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148840"/>
            <a:ext cx="1216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</a:t>
            </a:r>
            <a:pPr algn="ctr" indent="0" marL="0">
              <a:buNone/>
            </a:pPr>
            <a:r>
              <a:rPr lang="en-US" sz="80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0" y="352044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 economy for everyday goods.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166360" y="4343400"/>
            <a:ext cx="1828800" cy="0"/>
          </a:xfrm>
          <a:prstGeom prst="line">
            <a:avLst/>
          </a:prstGeom>
          <a:noFill/>
          <a:ln w="19050">
            <a:solidFill>
              <a:srgbClr val="C6F1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1264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 Perelman  ·  Netanel Pam  ·  Michal Pravlov  ·  Eden Ben Zion  ·  Nitzan Zetun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Stuff sits idle — and it costs more than closet space.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9659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87752" y="19659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87752" y="1965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70832" y="19659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26864" y="19659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6864" y="1965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Use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19659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65976" y="19659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C6F1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65976" y="1965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Time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49056" y="19659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05088" y="19659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05088" y="1965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48640" y="3429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electrical items per household — up from 20 just four years ago (+50%).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Focus, UK national electricals-recycling survey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43400" y="32461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3520440"/>
            <a:ext cx="548640" cy="54864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24" name="Image 0" descr="/private/tmp/claude-501/-Users-perelmaister-Documents-code-projects-UseIT/3fcf051a-e7ac-410b-9d6e-17e087fb4e20/scratchpad/icons/lo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4530" y="3597250"/>
            <a:ext cx="395021" cy="395021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434340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pilot, not a survey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0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a month-long "dorm warehouse" — neighbors listing and renting real idle items from each other. Genuine, sustained supply and demand on both sides.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38160" y="324612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36676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366760" y="39319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25–45, urban, digitally native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mindset, mobile-first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adopters: eco-conscious, community-minded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"Airbnb for your things."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514600"/>
            <a:ext cx="822960" cy="8229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6" name="Image 0" descr="/private/tmp/claude-501/-Users-perelmaister-Documents-code-projects-UseIT/3fcf051a-e7ac-410b-9d6e-17e087fb4e20/scratchpad/icons/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2594" y="2629814"/>
            <a:ext cx="592531" cy="5925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Income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776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idle equipment into a steady monthly revenue stream.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1488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7860" y="2514600"/>
            <a:ext cx="822960" cy="8229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11" name="Image 1" descr="/private/tmp/claude-501/-Users-perelmaister-Documents-code-projects-UseIT/3fcf051a-e7ac-410b-9d6e-17e087fb4e20/scratchpad/icons/confi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74" y="262981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 with Confidence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9776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users, escrow payments, and a GPS-checked QR handoff.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21488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78340" y="2514600"/>
            <a:ext cx="822960" cy="8229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16" name="Image 2" descr="/private/tmp/claude-501/-Users-perelmaister-Documents-code-projects-UseIT/3fcf051a-e7ac-410b-9d6e-17e087fb4e20/scratchpad/icons/listfa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554" y="2629814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in 30 Seconds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39776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the item — AI fills in the rest, instantly.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loop: instead of production → purchase → shelf time → disposal, UseIT keeps products in active use — cutting new production, easing storage pressure, and giving people affordable access to things they need only occasionally.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steps, end to end.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40180" y="2286000"/>
            <a:ext cx="1051560" cy="10515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5" name="Image 0" descr="/private/tmp/claude-501/-Users-perelmaister-Documents-code-projects-UseIT/3fcf051a-e7ac-410b-9d6e-17e087fb4e20/scratchpad/icons/signup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398" y="2433218"/>
            <a:ext cx="757123" cy="7571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2014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491740" y="228600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086100" y="2286000"/>
            <a:ext cx="1051560" cy="105156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9" name="Image 1" descr="/private/tmp/claude-501/-Users-perelmaister-Documents-code-projects-UseIT/3fcf051a-e7ac-410b-9d6e-17e087fb4e20/scratchpad/icons/swip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318" y="2433218"/>
            <a:ext cx="757123" cy="75712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6606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Find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137660" y="228600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732020" y="2286000"/>
            <a:ext cx="1051560" cy="10515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13" name="Image 2" descr="/private/tmp/claude-501/-Users-perelmaister-Documents-code-projects-UseIT/3fcf051a-e7ac-410b-9d6e-17e087fb4e20/scratchpad/icons/escrow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238" y="2433218"/>
            <a:ext cx="757123" cy="75712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1198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Pay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83580" y="228600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377940" y="2286000"/>
            <a:ext cx="1051560" cy="105156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7" name="Image 3" descr="/private/tmp/claude-501/-Users-perelmaister-Documents-code-projects-UseIT/3fcf051a-e7ac-410b-9d6e-17e087fb4e20/scratchpad/icons/qrpick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58" y="2433218"/>
            <a:ext cx="757123" cy="75712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5790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Pickup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7429500" y="228600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8023860" y="2286000"/>
            <a:ext cx="1051560" cy="10515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21" name="Image 4" descr="/private/tmp/claude-501/-Users-perelmaister-Documents-code-projects-UseIT/3fcf051a-e7ac-410b-9d6e-17e087fb4e20/scratchpad/icons/use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078" y="2433218"/>
            <a:ext cx="757123" cy="75712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70382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9075420" y="228600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9669780" y="2286000"/>
            <a:ext cx="1051560" cy="105156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5" name="Image 5" descr="/private/tmp/claude-501/-Users-perelmaister-Documents-code-projects-UseIT/3fcf051a-e7ac-410b-9d6e-17e087fb4e20/scratchpad/icons/qrretur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6998" y="2433218"/>
            <a:ext cx="757123" cy="757123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34974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Return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2194560" y="4480560"/>
            <a:ext cx="7772400" cy="1463040"/>
          </a:xfrm>
          <a:prstGeom prst="roundRect">
            <a:avLst>
              <a:gd name="adj" fmla="val 6250"/>
            </a:avLst>
          </a:prstGeom>
          <a:solidFill>
            <a:srgbClr val="C6F1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2194560" y="4663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  Live demo now</a:t>
            </a:r>
            <a:endParaRPr lang="en-US" sz="2200" dirty="0"/>
          </a:p>
        </p:txBody>
      </p:sp>
      <p:sp>
        <p:nvSpPr>
          <p:cNvPr id="29" name="Text 21"/>
          <p:cNvSpPr txBox="1"/>
          <p:nvPr/>
        </p:nvSpPr>
        <p:spPr>
          <a:xfrm>
            <a:off x="2194560" y="5212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phones, one real rental — from listing to a GPS-verified handoff.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dense neighborhoods.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~9.5M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in urban areas in Israel (93% of ~10.2M).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300K–800K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703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could realistically rent or lend equipment.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10312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0392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50K–150K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703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native P2P rental audience, near-term addressable.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dense city, logistics disappear — no shipping, no long drives. The ideal rental is one block away. That is why Tel Aviv is the deliberate first market.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alternatives were never built for this.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/ WhatsApp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Shops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Llama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829800" y="2075688"/>
            <a:ext cx="1783080" cy="3483864"/>
          </a:xfrm>
          <a:prstGeom prst="roundRect">
            <a:avLst>
              <a:gd name="adj" fmla="val 4103"/>
            </a:avLst>
          </a:prstGeom>
          <a:solidFill>
            <a:srgbClr val="151C25"/>
          </a:solidFill>
          <a:ln w="19050">
            <a:solidFill>
              <a:srgbClr val="C6F1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38360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Rental-native experience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40580" y="2752344"/>
            <a:ext cx="365760" cy="365760"/>
          </a:xfrm>
          <a:prstGeom prst="ellipse">
            <a:avLst/>
          </a:prstGeom>
          <a:solidFill>
            <a:srgbClr val="2A323C"/>
          </a:solidFill>
          <a:ln/>
        </p:spPr>
      </p:sp>
      <p:pic>
        <p:nvPicPr>
          <p:cNvPr id="12" name="Image 0" descr="/private/tmp/claude-501/-Users-perelmaister-Documents-code-projects-UseIT/3fcf051a-e7ac-410b-9d6e-17e087fb4e20/scratchpad/icons/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8129" y="2799893"/>
            <a:ext cx="270662" cy="27066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606540" y="2752344"/>
            <a:ext cx="365760" cy="365760"/>
          </a:xfrm>
          <a:prstGeom prst="ellipse">
            <a:avLst/>
          </a:prstGeom>
          <a:solidFill>
            <a:srgbClr val="3A3220"/>
          </a:solidFill>
          <a:ln/>
        </p:spPr>
      </p:sp>
      <p:pic>
        <p:nvPicPr>
          <p:cNvPr id="14" name="Image 1" descr="/private/tmp/claude-501/-Users-perelmaister-Documents-code-projects-UseIT/3fcf051a-e7ac-410b-9d6e-17e087fb4e20/scratchpad/icons/til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089" y="2799893"/>
            <a:ext cx="270662" cy="27066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572500" y="2752344"/>
            <a:ext cx="365760" cy="3657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16" name="Image 2" descr="/private/tmp/claude-501/-Users-perelmaister-Documents-code-projects-UseIT/3fcf051a-e7ac-410b-9d6e-17e087fb4e20/scratchpad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049" y="2799893"/>
            <a:ext cx="270662" cy="27066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538460" y="2752344"/>
            <a:ext cx="365760" cy="3657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18" name="Image 3" descr="/private/tmp/claude-501/-Users-perelmaister-Documents-code-projects-UseIT/3fcf051a-e7ac-410b-9d6e-17e087fb4e20/scratchpa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6009" y="2799893"/>
            <a:ext cx="270662" cy="27066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" y="32186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640580" y="3319272"/>
            <a:ext cx="365760" cy="365760"/>
          </a:xfrm>
          <a:prstGeom prst="ellipse">
            <a:avLst/>
          </a:prstGeom>
          <a:solidFill>
            <a:srgbClr val="2A323C"/>
          </a:solidFill>
          <a:ln/>
        </p:spPr>
      </p:sp>
      <p:pic>
        <p:nvPicPr>
          <p:cNvPr id="21" name="Image 4" descr="/private/tmp/claude-501/-Users-perelmaister-Documents-code-projects-UseIT/3fcf051a-e7ac-410b-9d6e-17e087fb4e20/scratchpad/icons/cro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129" y="3366821"/>
            <a:ext cx="270662" cy="27066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606540" y="3319272"/>
            <a:ext cx="365760" cy="365760"/>
          </a:xfrm>
          <a:prstGeom prst="ellipse">
            <a:avLst/>
          </a:prstGeom>
          <a:solidFill>
            <a:srgbClr val="2A323C"/>
          </a:solidFill>
          <a:ln/>
        </p:spPr>
      </p:sp>
      <p:pic>
        <p:nvPicPr>
          <p:cNvPr id="23" name="Image 5" descr="/private/tmp/claude-501/-Users-perelmaister-Documents-code-projects-UseIT/3fcf051a-e7ac-410b-9d6e-17e087fb4e20/scratchpad/icons/cro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4089" y="3366821"/>
            <a:ext cx="270662" cy="27066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572500" y="3319272"/>
            <a:ext cx="365760" cy="3657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25" name="Image 6" descr="/private/tmp/claude-501/-Users-perelmaister-Documents-code-projects-UseIT/3fcf051a-e7ac-410b-9d6e-17e087fb4e20/scratchpad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0049" y="3366821"/>
            <a:ext cx="270662" cy="270662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10538460" y="3319272"/>
            <a:ext cx="365760" cy="3657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27" name="Image 7" descr="/private/tmp/claude-501/-Users-perelmaister-Documents-code-projects-UseIT/3fcf051a-e7ac-410b-9d6e-17e087fb4e20/scratchpad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6009" y="3366821"/>
            <a:ext cx="270662" cy="270662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548640" y="37856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trust layer (Israel)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4640580" y="3886200"/>
            <a:ext cx="365760" cy="365760"/>
          </a:xfrm>
          <a:prstGeom prst="ellipse">
            <a:avLst/>
          </a:prstGeom>
          <a:solidFill>
            <a:srgbClr val="2A323C"/>
          </a:solidFill>
          <a:ln/>
        </p:spPr>
      </p:sp>
      <p:pic>
        <p:nvPicPr>
          <p:cNvPr id="30" name="Image 8" descr="/private/tmp/claude-501/-Users-perelmaister-Documents-code-projects-UseIT/3fcf051a-e7ac-410b-9d6e-17e087fb4e20/scratchpad/icons/cros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8129" y="3933749"/>
            <a:ext cx="270662" cy="270662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6606540" y="3886200"/>
            <a:ext cx="365760" cy="3657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32" name="Image 9" descr="/private/tmp/claude-501/-Users-perelmaister-Documents-code-projects-UseIT/3fcf051a-e7ac-410b-9d6e-17e087fb4e20/scratchpad/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4089" y="3933749"/>
            <a:ext cx="270662" cy="270662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8572500" y="3886200"/>
            <a:ext cx="365760" cy="365760"/>
          </a:xfrm>
          <a:prstGeom prst="ellipse">
            <a:avLst/>
          </a:prstGeom>
          <a:solidFill>
            <a:srgbClr val="2A323C"/>
          </a:solidFill>
          <a:ln/>
        </p:spPr>
      </p:sp>
      <p:pic>
        <p:nvPicPr>
          <p:cNvPr id="34" name="Image 10" descr="/private/tmp/claude-501/-Users-perelmaister-Documents-code-projects-UseIT/3fcf051a-e7ac-410b-9d6e-17e087fb4e20/scratchpad/icons/cros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0049" y="3933749"/>
            <a:ext cx="270662" cy="270662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10538460" y="3886200"/>
            <a:ext cx="365760" cy="3657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36" name="Image 11" descr="/private/tmp/claude-501/-Users-perelmaister-Documents-code-projects-UseIT/3fcf051a-e7ac-410b-9d6e-17e087fb4e20/scratchpad/icons/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86009" y="3933749"/>
            <a:ext cx="270662" cy="270662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548640" y="43525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tracking &amp; rewards</a:t>
            </a:r>
            <a:endParaRPr lang="en-US" sz="1300" dirty="0"/>
          </a:p>
        </p:txBody>
      </p:sp>
      <p:sp>
        <p:nvSpPr>
          <p:cNvPr id="38" name="Shape 24"/>
          <p:cNvSpPr/>
          <p:nvPr/>
        </p:nvSpPr>
        <p:spPr>
          <a:xfrm>
            <a:off x="4640580" y="4453128"/>
            <a:ext cx="365760" cy="365760"/>
          </a:xfrm>
          <a:prstGeom prst="ellipse">
            <a:avLst/>
          </a:prstGeom>
          <a:solidFill>
            <a:srgbClr val="2A323C"/>
          </a:solidFill>
          <a:ln/>
        </p:spPr>
      </p:sp>
      <p:pic>
        <p:nvPicPr>
          <p:cNvPr id="39" name="Image 12" descr="/private/tmp/claude-501/-Users-perelmaister-Documents-code-projects-UseIT/3fcf051a-e7ac-410b-9d6e-17e087fb4e20/scratchpad/icons/cros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88129" y="4500677"/>
            <a:ext cx="270662" cy="270662"/>
          </a:xfrm>
          <a:prstGeom prst="rect">
            <a:avLst/>
          </a:prstGeom>
        </p:spPr>
      </p:pic>
      <p:sp>
        <p:nvSpPr>
          <p:cNvPr id="40" name="Shape 25"/>
          <p:cNvSpPr/>
          <p:nvPr/>
        </p:nvSpPr>
        <p:spPr>
          <a:xfrm>
            <a:off x="6606540" y="4453128"/>
            <a:ext cx="365760" cy="365760"/>
          </a:xfrm>
          <a:prstGeom prst="ellipse">
            <a:avLst/>
          </a:prstGeom>
          <a:solidFill>
            <a:srgbClr val="2A323C"/>
          </a:solidFill>
          <a:ln/>
        </p:spPr>
      </p:sp>
      <p:pic>
        <p:nvPicPr>
          <p:cNvPr id="41" name="Image 13" descr="/private/tmp/claude-501/-Users-perelmaister-Documents-code-projects-UseIT/3fcf051a-e7ac-410b-9d6e-17e087fb4e20/scratchpad/icons/cros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54089" y="4500677"/>
            <a:ext cx="270662" cy="270662"/>
          </a:xfrm>
          <a:prstGeom prst="rect">
            <a:avLst/>
          </a:prstGeom>
        </p:spPr>
      </p:pic>
      <p:sp>
        <p:nvSpPr>
          <p:cNvPr id="42" name="Shape 26"/>
          <p:cNvSpPr/>
          <p:nvPr/>
        </p:nvSpPr>
        <p:spPr>
          <a:xfrm>
            <a:off x="8572500" y="4453128"/>
            <a:ext cx="365760" cy="365760"/>
          </a:xfrm>
          <a:prstGeom prst="ellipse">
            <a:avLst/>
          </a:prstGeom>
          <a:solidFill>
            <a:srgbClr val="2A323C"/>
          </a:solidFill>
          <a:ln/>
        </p:spPr>
      </p:sp>
      <p:pic>
        <p:nvPicPr>
          <p:cNvPr id="43" name="Image 14" descr="/private/tmp/claude-501/-Users-perelmaister-Documents-code-projects-UseIT/3fcf051a-e7ac-410b-9d6e-17e087fb4e20/scratchpad/icons/cros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20049" y="4500677"/>
            <a:ext cx="270662" cy="270662"/>
          </a:xfrm>
          <a:prstGeom prst="rect">
            <a:avLst/>
          </a:prstGeom>
        </p:spPr>
      </p:pic>
      <p:sp>
        <p:nvSpPr>
          <p:cNvPr id="44" name="Shape 27"/>
          <p:cNvSpPr/>
          <p:nvPr/>
        </p:nvSpPr>
        <p:spPr>
          <a:xfrm>
            <a:off x="10538460" y="4453128"/>
            <a:ext cx="365760" cy="3657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45" name="Image 15" descr="/private/tmp/claude-501/-Users-perelmaister-Documents-code-projects-UseIT/3fcf051a-e7ac-410b-9d6e-17e087fb4e20/scratchpad/icons/chec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86009" y="4500677"/>
            <a:ext cx="270662" cy="270662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548640" y="49194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in-app payments</a:t>
            </a:r>
            <a:endParaRPr lang="en-US" sz="1300" dirty="0"/>
          </a:p>
        </p:txBody>
      </p:sp>
      <p:sp>
        <p:nvSpPr>
          <p:cNvPr id="47" name="Shape 29"/>
          <p:cNvSpPr/>
          <p:nvPr/>
        </p:nvSpPr>
        <p:spPr>
          <a:xfrm>
            <a:off x="4640580" y="5020056"/>
            <a:ext cx="365760" cy="365760"/>
          </a:xfrm>
          <a:prstGeom prst="ellipse">
            <a:avLst/>
          </a:prstGeom>
          <a:solidFill>
            <a:srgbClr val="2A323C"/>
          </a:solidFill>
          <a:ln/>
        </p:spPr>
      </p:sp>
      <p:pic>
        <p:nvPicPr>
          <p:cNvPr id="48" name="Image 16" descr="/private/tmp/claude-501/-Users-perelmaister-Documents-code-projects-UseIT/3fcf051a-e7ac-410b-9d6e-17e087fb4e20/scratchpad/icons/cross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88129" y="5067605"/>
            <a:ext cx="270662" cy="270662"/>
          </a:xfrm>
          <a:prstGeom prst="rect">
            <a:avLst/>
          </a:prstGeom>
        </p:spPr>
      </p:pic>
      <p:sp>
        <p:nvSpPr>
          <p:cNvPr id="49" name="Shape 30"/>
          <p:cNvSpPr/>
          <p:nvPr/>
        </p:nvSpPr>
        <p:spPr>
          <a:xfrm>
            <a:off x="6606540" y="5020056"/>
            <a:ext cx="365760" cy="365760"/>
          </a:xfrm>
          <a:prstGeom prst="ellipse">
            <a:avLst/>
          </a:prstGeom>
          <a:solidFill>
            <a:srgbClr val="3A3220"/>
          </a:solidFill>
          <a:ln/>
        </p:spPr>
      </p:sp>
      <p:pic>
        <p:nvPicPr>
          <p:cNvPr id="50" name="Image 17" descr="/private/tmp/claude-501/-Users-perelmaister-Documents-code-projects-UseIT/3fcf051a-e7ac-410b-9d6e-17e087fb4e20/scratchpad/icons/tild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54089" y="5067605"/>
            <a:ext cx="270662" cy="270662"/>
          </a:xfrm>
          <a:prstGeom prst="rect">
            <a:avLst/>
          </a:prstGeom>
        </p:spPr>
      </p:pic>
      <p:sp>
        <p:nvSpPr>
          <p:cNvPr id="51" name="Shape 31"/>
          <p:cNvSpPr/>
          <p:nvPr/>
        </p:nvSpPr>
        <p:spPr>
          <a:xfrm>
            <a:off x="8572500" y="5020056"/>
            <a:ext cx="365760" cy="3657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52" name="Image 18" descr="/private/tmp/claude-501/-Users-perelmaister-Documents-code-projects-UseIT/3fcf051a-e7ac-410b-9d6e-17e087fb4e20/scratchpad/icons/check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20049" y="5067605"/>
            <a:ext cx="270662" cy="270662"/>
          </a:xfrm>
          <a:prstGeom prst="rect">
            <a:avLst/>
          </a:prstGeom>
        </p:spPr>
      </p:pic>
      <p:sp>
        <p:nvSpPr>
          <p:cNvPr id="53" name="Shape 32"/>
          <p:cNvSpPr/>
          <p:nvPr/>
        </p:nvSpPr>
        <p:spPr>
          <a:xfrm>
            <a:off x="10538460" y="5020056"/>
            <a:ext cx="365760" cy="3657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54" name="Image 19" descr="/private/tmp/claude-501/-Users-perelmaister-Documents-code-projects-UseIT/3fcf051a-e7ac-410b-9d6e-17e087fb4e20/scratchpad/icons/check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86009" y="5067605"/>
            <a:ext cx="270662" cy="270662"/>
          </a:xfrm>
          <a:prstGeom prst="rect">
            <a:avLst/>
          </a:prstGeom>
        </p:spPr>
      </p:pic>
      <p:sp>
        <p:nvSpPr>
          <p:cNvPr id="55" name="Text 33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UseIT is purpose-built for rentals: dispute resolution, CO₂ tracking, and a fully native trust + payments layer, localized for Israel from day one.</a:t>
            </a:r>
            <a:endParaRPr lang="en-US" sz="1300" dirty="0"/>
          </a:p>
        </p:txBody>
      </p:sp>
      <p:sp>
        <p:nvSpPr>
          <p:cNvPr id="56" name="Text 3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7" name="Text 35"/>
          <p:cNvSpPr txBox="1"/>
          <p:nvPr/>
        </p:nvSpPr>
        <p:spPr>
          <a:xfrm>
            <a:off x="548640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and technology, in parallel.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6" name="Image 0" descr="/private/tmp/claude-501/-Users-perelmaister-Documents-code-projects-UseIT/3fcf051a-e7ac-410b-9d6e-17e087fb4e20/scratchpad/icons/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24999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5468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Lenders — Tel Aviv first, seed the catalog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Renters — community, referrals, reviews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Stick — retention over raw acquisition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scale city-by-city → 10,000 users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 $150K pre-seed, ~12-month runway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21031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11" name="Image 1" descr="/private/tmp/claude-501/-Users-perelmaister-Documents-code-projects-UseIT/3fcf051a-e7ac-410b-9d6e-17e087fb4e20/scratchpad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70" y="24999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315468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KYC (Stripe Identity) for verified users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"listing boost" for lenders (phase 2)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first-pass dispute triage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 — currently none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distribution beyond direct APK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·  1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it’s built with — and what fought back.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21031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B24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21031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B24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21031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52560" y="21031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B24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52560" y="21031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 + Qwen)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64240" cy="2788920"/>
          </a:xfrm>
          <a:prstGeom prst="roundRect">
            <a:avLst>
              <a:gd name="adj" fmla="val 3279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11880"/>
            <a:ext cx="640080" cy="64008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4" name="Image 0" descr="/private/tmp/claude-501/-Users-perelmaister-Documents-code-projects-UseIT/3fcf051a-e7ac-410b-9d6e-17e087fb4e20/scratchpad/icons/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3701491"/>
            <a:ext cx="460858" cy="46085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9164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bug, and how we found it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2062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Auto-Fill feature (a Groq vision model reading a photo) started returning empty results. The model’s reasoning mode was silently burning its entire token budget on invisible chain-of-thought — leaving nothing for the actual answer. The first fix we tried (hiding the reasoning) didn’t work; it still spent the tokens, just off-screen. The real fix was disabling reasoning outright per-request.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·  2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lives in the database, not just the app.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B24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31920" y="1965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C6F1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931920" y="19659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RLS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1965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B24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0" y="19659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Edge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9659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9659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0" y="33375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B24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0" y="33375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Groq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017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reads/writes go straight to Postgres — access rules are enforced by the database itself, not application code.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4892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only for secrets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52578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 functions exist only where a trusted server or a secret key is required — payments, AI calls, admin actions.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892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Physical-world verification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52578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Pickup/return require a GPS-checked QR scan — confirming both parties were actually present, not just a rating.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·  3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on both sides of the product.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6" name="Image 0" descr="/private/tmp/claude-501/-Users-perelmaister-Documents-code-projects-UseIT/3fcf051a-e7ac-410b-9d6e-17e087fb4e20/scratchpad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24999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product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5468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Auto-Fill — a Groq vision model reads one photo and fills title, category, description, and price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Trip Planner — a text model ranks listings against a free-text request and real date availability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models on purpose — one needs vision, the other needs fast, cheap reasoning over text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21031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51C2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11" name="Image 1" descr="/private/tmp/claude-501/-Users-perelmaister-Documents-code-projects-UseIT/3fcf051a-e7ac-410b-9d6e-17e087fb4e20/scratchpad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70" y="24999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product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315468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tools helped write and review large parts of the codebase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responsibility for what shipped is ours — not the tool’s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platform fee silently defaulted to a placeholder split — we caught it against our own decision and fixed it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7 database migrations existed live but were never committed to the repo — we found and backfilled the gap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people, one product.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37260" y="2377440"/>
            <a:ext cx="1371600" cy="1371600"/>
          </a:xfrm>
          <a:prstGeom prst="ellipse">
            <a:avLst/>
          </a:prstGeom>
          <a:solidFill>
            <a:srgbClr val="1B2430"/>
          </a:solidFill>
          <a:ln w="19050">
            <a:solidFill>
              <a:srgbClr val="C6F1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" y="2377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 Perelman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/ Mobile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23260" y="2377440"/>
            <a:ext cx="1371600" cy="1371600"/>
          </a:xfrm>
          <a:prstGeom prst="ellipse">
            <a:avLst/>
          </a:prstGeom>
          <a:solidFill>
            <a:srgbClr val="1B2430"/>
          </a:solidFill>
          <a:ln w="19050">
            <a:solidFill>
              <a:srgbClr val="C6F1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23260" y="2377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977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Netanel Pam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/ Mobile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09260" y="2377440"/>
            <a:ext cx="1371600" cy="1371600"/>
          </a:xfrm>
          <a:prstGeom prst="ellipse">
            <a:avLst/>
          </a:prstGeom>
          <a:solidFill>
            <a:srgbClr val="1B2430"/>
          </a:solidFill>
          <a:ln w="19050">
            <a:solidFill>
              <a:srgbClr val="C6F1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09260" y="2377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977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Michal Pravlov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Strategy &amp; Financial Modeling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95260" y="2377440"/>
            <a:ext cx="1371600" cy="1371600"/>
          </a:xfrm>
          <a:prstGeom prst="ellipse">
            <a:avLst/>
          </a:prstGeom>
          <a:solidFill>
            <a:srgbClr val="1B2430"/>
          </a:solidFill>
          <a:ln w="19050">
            <a:solidFill>
              <a:srgbClr val="C6F1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95260" y="2377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EBZ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977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Eden Ben Zion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081260" y="2377440"/>
            <a:ext cx="1371600" cy="1371600"/>
          </a:xfrm>
          <a:prstGeom prst="ellipse">
            <a:avLst/>
          </a:prstGeom>
          <a:solidFill>
            <a:srgbClr val="1B2430"/>
          </a:solidFill>
          <a:ln w="19050">
            <a:solidFill>
              <a:srgbClr val="C6F1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81260" y="2377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NZ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3977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Nitzan Zetun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&amp; Narrative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engineering, market research, financial modeling, and pitch strategy — the full path from a working product to a defensible business.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194560"/>
            <a:ext cx="1216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</a:t>
            </a:r>
            <a:pPr algn="ctr" indent="0" marL="0">
              <a:buNone/>
            </a:pPr>
            <a:r>
              <a:rPr lang="en-US" sz="60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329184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it. Don’t waste it.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23560" y="4206240"/>
            <a:ext cx="548640" cy="54864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5" name="Image 0" descr="/private/tmp/claude-501/-Users-perelmaister-Documents-code-projects-UseIT/3fcf051a-e7ac-410b-9d6e-17e087fb4e20/scratchpad/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0370" y="4283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48920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github.com/pamnati592/UseIT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2026-09-03T11:05:16Z</dcterms:created>
  <dcterms:modified xsi:type="dcterms:W3CDTF">2026-09-03T11:05:16Z</dcterms:modified>
</cp:coreProperties>
</file>