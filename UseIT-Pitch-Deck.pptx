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video" Target="../media/media-4-7.mp4"/><Relationship Id="rId8" Type="http://schemas.microsoft.com/office/2007/relationships/media" Target="../media/media-4-7.mp4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1.png"/><Relationship Id="rId6" Type="http://schemas.openxmlformats.org/officeDocument/2006/relationships/image" Target="../media/image-6-1.png"/><Relationship Id="rId7" Type="http://schemas.openxmlformats.org/officeDocument/2006/relationships/image" Target="../media/image-6-3.png"/><Relationship Id="rId8" Type="http://schemas.openxmlformats.org/officeDocument/2006/relationships/image" Target="../media/image-6-3.png"/><Relationship Id="rId9" Type="http://schemas.openxmlformats.org/officeDocument/2006/relationships/image" Target="../media/image-6-1.png"/><Relationship Id="rId10" Type="http://schemas.openxmlformats.org/officeDocument/2006/relationships/image" Target="../media/image-6-3.png"/><Relationship Id="rId11" Type="http://schemas.openxmlformats.org/officeDocument/2006/relationships/image" Target="../media/image-6-1.png"/><Relationship Id="rId12" Type="http://schemas.openxmlformats.org/officeDocument/2006/relationships/image" Target="../media/image-6-3.png"/><Relationship Id="rId13" Type="http://schemas.openxmlformats.org/officeDocument/2006/relationships/image" Target="../media/image-6-1.png"/><Relationship Id="rId14" Type="http://schemas.openxmlformats.org/officeDocument/2006/relationships/image" Target="../media/image-6-1.png"/><Relationship Id="rId15" Type="http://schemas.openxmlformats.org/officeDocument/2006/relationships/image" Target="../media/image-6-1.png"/><Relationship Id="rId16" Type="http://schemas.openxmlformats.org/officeDocument/2006/relationships/image" Target="../media/image-6-3.png"/><Relationship Id="rId17" Type="http://schemas.openxmlformats.org/officeDocument/2006/relationships/image" Target="../media/image-6-1.png"/><Relationship Id="rId18" Type="http://schemas.openxmlformats.org/officeDocument/2006/relationships/image" Target="../media/image-6-2.png"/><Relationship Id="rId19" Type="http://schemas.openxmlformats.org/officeDocument/2006/relationships/image" Target="../media/image-6-3.png"/><Relationship Id="rId20" Type="http://schemas.openxmlformats.org/officeDocument/2006/relationships/image" Target="../media/image-6-3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2148840"/>
            <a:ext cx="12161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</a:t>
            </a:r>
            <a:pPr algn="ctr" indent="0" marL="0">
              <a:buNone/>
            </a:pPr>
            <a:r>
              <a:rPr lang="en-US" sz="8000" b="1" dirty="0">
                <a:solidFill>
                  <a:srgbClr val="C6F1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0" y="3520440"/>
            <a:ext cx="1216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circular economy for everyday goods.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166360" y="4343400"/>
            <a:ext cx="1828800" cy="0"/>
          </a:xfrm>
          <a:prstGeom prst="line">
            <a:avLst/>
          </a:prstGeom>
          <a:noFill/>
          <a:ln w="19050">
            <a:solidFill>
              <a:srgbClr val="C6F1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0" y="612648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 Perelman  ·  Netanel Pam  ·  Michal Pravlov  ·  Eden Ben Zion  ·  Nitzan Zetun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Stuff sits idle — and it costs more than closet space.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96596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87752" y="196596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87752" y="1965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70832" y="196596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626864" y="196596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26864" y="1965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Use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196596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665976" y="196596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C6F13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65976" y="1965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 Time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49056" y="196596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705088" y="196596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1B243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05088" y="1965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2461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48640" y="34290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6F1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434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electrical items per household — up from 20 just four years ago (+50%).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Focus, UK national electricals-recycling survey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43400" y="3246120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17720" y="3520440"/>
            <a:ext cx="548640" cy="54864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24" name="Image 0" descr="/private/tmp/claude-501/-Users-perelmaister-Documents-code-projects-UseIT/23b143a8-fd5c-4764-87e3-345592da782c/scratchpad/icons/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94530" y="3597250"/>
            <a:ext cx="395021" cy="395021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343400" y="4206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pilot, not a survey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0" y="46177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ran a month-long "dorm warehouse" — neighbors listing and renting real idle items from each other. Genuine, sustained supply and demand on both sides.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38160" y="3246120"/>
            <a:ext cx="3474720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36676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66760" y="39319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25–45, urban, digitally native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mindset, mobile-first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adopters: eco-conscious, community-minded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46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"Airbnb for your things."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97380" y="2514600"/>
            <a:ext cx="822960" cy="82296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6" name="Image 0" descr="/private/tmp/claude-501/-Users-perelmaister-Documents-code-projects-UseIT/23b143a8-fd5c-4764-87e3-345592da782c/scratchpad/icons/inc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2594" y="2629814"/>
            <a:ext cx="592531" cy="59253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520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Passive Income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776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idle equipment into a steady monthly revenue stream.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214884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37860" y="2514600"/>
            <a:ext cx="822960" cy="82296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11" name="Image 1" descr="/private/tmp/claude-501/-Users-perelmaister-Documents-code-projects-UseIT/23b143a8-fd5c-4764-87e3-345592da782c/scratchpad/icons/confid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3074" y="2629814"/>
            <a:ext cx="592531" cy="59253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3520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 with Confidence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39776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users, escrow payments, and a GPS-checked QR handoff.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0" y="214884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578340" y="2514600"/>
            <a:ext cx="822960" cy="82296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16" name="Image 2" descr="/private/tmp/claude-501/-Users-perelmaister-Documents-code-projects-UseIT/23b143a8-fd5c-4764-87e3-345592da782c/scratchpad/icons/listf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3554" y="2629814"/>
            <a:ext cx="592531" cy="59253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58200" y="352044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 in 30 Seconds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549640" y="39776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 the item — AI fills in the rest, instantly.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212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loop: instead of production → purchase → shelf time → disposal, UseIT keeps products in active use — cutting new production, easing storage pressure, and giving people affordable access to things they need only occasionally.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46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steps,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788920" y="1783080"/>
            <a:ext cx="777240" cy="77724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5" name="Image 0" descr="/private/tmp/claude-501/-Users-perelmaister-Documents-code-projects-UseIT/23b143a8-fd5c-4764-87e3-345592da782c/scratchpad/icons/signup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7734" y="1891894"/>
            <a:ext cx="559613" cy="55961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514600" y="26334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3566160" y="1783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950208" y="1783080"/>
            <a:ext cx="777240" cy="777240"/>
          </a:xfrm>
          <a:prstGeom prst="ellipse">
            <a:avLst/>
          </a:prstGeom>
          <a:solidFill>
            <a:srgbClr val="1B2430"/>
          </a:solidFill>
          <a:ln/>
        </p:spPr>
      </p:sp>
      <p:pic>
        <p:nvPicPr>
          <p:cNvPr id="9" name="Image 1" descr="/private/tmp/claude-501/-Users-perelmaister-Documents-code-projects-UseIT/23b143a8-fd5c-4764-87e3-345592da782c/scratchpad/icons/swip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022" y="1891894"/>
            <a:ext cx="559613" cy="559613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75888" y="26334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Swipe to Find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4727448" y="1783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111496" y="1783080"/>
            <a:ext cx="777240" cy="77724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13" name="Image 2" descr="/private/tmp/claude-501/-Users-perelmaister-Documents-code-projects-UseIT/23b143a8-fd5c-4764-87e3-345592da782c/scratchpad/icons/escrow_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310" y="1891894"/>
            <a:ext cx="559613" cy="55961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837176" y="26334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Pay</a:t>
            </a:r>
            <a:endParaRPr lang="en-US" sz="1050" dirty="0"/>
          </a:p>
        </p:txBody>
      </p:sp>
      <p:sp>
        <p:nvSpPr>
          <p:cNvPr id="15" name="Text 10"/>
          <p:cNvSpPr txBox="1"/>
          <p:nvPr/>
        </p:nvSpPr>
        <p:spPr>
          <a:xfrm>
            <a:off x="5888736" y="1783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272784" y="1783080"/>
            <a:ext cx="777240" cy="777240"/>
          </a:xfrm>
          <a:prstGeom prst="ellipse">
            <a:avLst/>
          </a:prstGeom>
          <a:solidFill>
            <a:srgbClr val="1B2430"/>
          </a:solidFill>
          <a:ln/>
        </p:spPr>
      </p:sp>
      <p:pic>
        <p:nvPicPr>
          <p:cNvPr id="17" name="Image 3" descr="/private/tmp/claude-501/-Users-perelmaister-Documents-code-projects-UseIT/23b143a8-fd5c-4764-87e3-345592da782c/scratchpad/icons/qrpickup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598" y="1891894"/>
            <a:ext cx="559613" cy="55961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998464" y="26334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Pickup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7050024" y="1783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434072" y="1783080"/>
            <a:ext cx="777240" cy="77724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21" name="Image 4" descr="/private/tmp/claude-501/-Users-perelmaister-Documents-code-projects-UseIT/23b143a8-fd5c-4764-87e3-345592da782c/scratchpad/icons/use_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2886" y="1891894"/>
            <a:ext cx="559613" cy="55961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159752" y="26334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8211312" y="1783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8595360" y="1783080"/>
            <a:ext cx="777240" cy="777240"/>
          </a:xfrm>
          <a:prstGeom prst="ellipse">
            <a:avLst/>
          </a:prstGeom>
          <a:solidFill>
            <a:srgbClr val="1B2430"/>
          </a:solidFill>
          <a:ln/>
        </p:spPr>
      </p:sp>
      <p:pic>
        <p:nvPicPr>
          <p:cNvPr id="25" name="Image 5" descr="/private/tmp/claude-501/-Users-perelmaister-Documents-code-projects-UseIT/23b143a8-fd5c-4764-87e3-345592da782c/scratchpad/icons/qrreturn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4174" y="1891894"/>
            <a:ext cx="559613" cy="559613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321040" y="263347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Return</a:t>
            </a:r>
            <a:endParaRPr lang="en-US" sz="1050" dirty="0"/>
          </a:p>
        </p:txBody>
      </p:sp>
      <p:pic>
        <p:nvPicPr>
          <p:cNvPr id="9" name="Media 0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3235960" y="3108960"/>
            <a:ext cx="5689600" cy="32004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548640" y="6446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dense neighborhoods.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3774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43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~9.5M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03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living in urban areas in Israel (93% of ~10.2M).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63440" y="23774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743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300K–800K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703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could realistically rent or lend equipment.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0" y="210312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503920" y="23774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27432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50K–150K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3703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Digitally native P2P rental audience, near-term addressable.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1B243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257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dense city, logistics disappear — no shipping, no long drives. The ideal rental is one block away. That is why Tel Aviv is the deliberate first market.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46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alternatives were never built for this.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21488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 / WhatsApp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21488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Shops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0" y="21488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Llama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829800" y="2075688"/>
            <a:ext cx="1783080" cy="3483864"/>
          </a:xfrm>
          <a:prstGeom prst="roundRect">
            <a:avLst>
              <a:gd name="adj" fmla="val 4103"/>
            </a:avLst>
          </a:prstGeom>
          <a:solidFill>
            <a:srgbClr val="151C25"/>
          </a:solidFill>
          <a:ln w="19050">
            <a:solidFill>
              <a:srgbClr val="C6F1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38360" y="21488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65176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Rental-native experience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40580" y="2752344"/>
            <a:ext cx="365760" cy="365760"/>
          </a:xfrm>
          <a:prstGeom prst="ellipse">
            <a:avLst/>
          </a:prstGeom>
          <a:solidFill>
            <a:srgbClr val="2A323C"/>
          </a:solidFill>
          <a:ln/>
        </p:spPr>
      </p:sp>
      <p:pic>
        <p:nvPicPr>
          <p:cNvPr id="12" name="Image 0" descr="/private/tmp/claude-501/-Users-perelmaister-Documents-code-projects-UseIT/23b143a8-fd5c-4764-87e3-345592da782c/scratchpad/icons/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8129" y="2799893"/>
            <a:ext cx="270662" cy="27066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606540" y="2752344"/>
            <a:ext cx="365760" cy="365760"/>
          </a:xfrm>
          <a:prstGeom prst="ellipse">
            <a:avLst/>
          </a:prstGeom>
          <a:solidFill>
            <a:srgbClr val="3A3220"/>
          </a:solidFill>
          <a:ln/>
        </p:spPr>
      </p:sp>
      <p:pic>
        <p:nvPicPr>
          <p:cNvPr id="14" name="Image 1" descr="/private/tmp/claude-501/-Users-perelmaister-Documents-code-projects-UseIT/23b143a8-fd5c-4764-87e3-345592da782c/scratchpad/icons/til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4089" y="2799893"/>
            <a:ext cx="270662" cy="27066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572500" y="2752344"/>
            <a:ext cx="365760" cy="36576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16" name="Image 2" descr="/private/tmp/claude-501/-Users-perelmaister-Documents-code-projects-UseIT/23b143a8-fd5c-4764-87e3-345592da782c/scratchpad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049" y="2799893"/>
            <a:ext cx="270662" cy="27066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0538460" y="2752344"/>
            <a:ext cx="365760" cy="36576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18" name="Image 3" descr="/private/tmp/claude-501/-Users-perelmaister-Documents-code-projects-UseIT/23b143a8-fd5c-4764-87e3-345592da782c/scratchpad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6009" y="2799893"/>
            <a:ext cx="270662" cy="27066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8640" y="32186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 resolution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4640580" y="3319272"/>
            <a:ext cx="365760" cy="365760"/>
          </a:xfrm>
          <a:prstGeom prst="ellipse">
            <a:avLst/>
          </a:prstGeom>
          <a:solidFill>
            <a:srgbClr val="2A323C"/>
          </a:solidFill>
          <a:ln/>
        </p:spPr>
      </p:sp>
      <p:pic>
        <p:nvPicPr>
          <p:cNvPr id="21" name="Image 4" descr="/private/tmp/claude-501/-Users-perelmaister-Documents-code-projects-UseIT/23b143a8-fd5c-4764-87e3-345592da782c/scratchpad/icons/cros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8129" y="3366821"/>
            <a:ext cx="270662" cy="270662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606540" y="3319272"/>
            <a:ext cx="365760" cy="365760"/>
          </a:xfrm>
          <a:prstGeom prst="ellipse">
            <a:avLst/>
          </a:prstGeom>
          <a:solidFill>
            <a:srgbClr val="2A323C"/>
          </a:solidFill>
          <a:ln/>
        </p:spPr>
      </p:sp>
      <p:pic>
        <p:nvPicPr>
          <p:cNvPr id="23" name="Image 5" descr="/private/tmp/claude-501/-Users-perelmaister-Documents-code-projects-UseIT/23b143a8-fd5c-4764-87e3-345592da782c/scratchpad/icons/cros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4089" y="3366821"/>
            <a:ext cx="270662" cy="270662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8572500" y="3319272"/>
            <a:ext cx="365760" cy="36576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25" name="Image 6" descr="/private/tmp/claude-501/-Users-perelmaister-Documents-code-projects-UseIT/23b143a8-fd5c-4764-87e3-345592da782c/scratchpad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0049" y="3366821"/>
            <a:ext cx="270662" cy="270662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10538460" y="3319272"/>
            <a:ext cx="365760" cy="36576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27" name="Image 7" descr="/private/tmp/claude-501/-Users-perelmaister-Documents-code-projects-UseIT/23b143a8-fd5c-4764-87e3-345592da782c/scratchpad/icons/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86009" y="3366821"/>
            <a:ext cx="270662" cy="270662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548640" y="37856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trust layer (Israel)</a:t>
            </a:r>
            <a:endParaRPr lang="en-US" sz="1300" dirty="0"/>
          </a:p>
        </p:txBody>
      </p:sp>
      <p:sp>
        <p:nvSpPr>
          <p:cNvPr id="29" name="Shape 19"/>
          <p:cNvSpPr/>
          <p:nvPr/>
        </p:nvSpPr>
        <p:spPr>
          <a:xfrm>
            <a:off x="4640580" y="3886200"/>
            <a:ext cx="365760" cy="365760"/>
          </a:xfrm>
          <a:prstGeom prst="ellipse">
            <a:avLst/>
          </a:prstGeom>
          <a:solidFill>
            <a:srgbClr val="2A323C"/>
          </a:solidFill>
          <a:ln/>
        </p:spPr>
      </p:sp>
      <p:pic>
        <p:nvPicPr>
          <p:cNvPr id="30" name="Image 8" descr="/private/tmp/claude-501/-Users-perelmaister-Documents-code-projects-UseIT/23b143a8-fd5c-4764-87e3-345592da782c/scratchpad/icons/cros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8129" y="3933749"/>
            <a:ext cx="270662" cy="270662"/>
          </a:xfrm>
          <a:prstGeom prst="rect">
            <a:avLst/>
          </a:prstGeom>
        </p:spPr>
      </p:pic>
      <p:sp>
        <p:nvSpPr>
          <p:cNvPr id="31" name="Shape 20"/>
          <p:cNvSpPr/>
          <p:nvPr/>
        </p:nvSpPr>
        <p:spPr>
          <a:xfrm>
            <a:off x="6606540" y="3886200"/>
            <a:ext cx="365760" cy="36576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32" name="Image 9" descr="/private/tmp/claude-501/-Users-perelmaister-Documents-code-projects-UseIT/23b143a8-fd5c-4764-87e3-345592da782c/scratchpad/icons/chec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4089" y="3933749"/>
            <a:ext cx="270662" cy="270662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8572500" y="3886200"/>
            <a:ext cx="365760" cy="365760"/>
          </a:xfrm>
          <a:prstGeom prst="ellipse">
            <a:avLst/>
          </a:prstGeom>
          <a:solidFill>
            <a:srgbClr val="2A323C"/>
          </a:solidFill>
          <a:ln/>
        </p:spPr>
      </p:sp>
      <p:pic>
        <p:nvPicPr>
          <p:cNvPr id="34" name="Image 10" descr="/private/tmp/claude-501/-Users-perelmaister-Documents-code-projects-UseIT/23b143a8-fd5c-4764-87e3-345592da782c/scratchpad/icons/cros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20049" y="3933749"/>
            <a:ext cx="270662" cy="270662"/>
          </a:xfrm>
          <a:prstGeom prst="rect">
            <a:avLst/>
          </a:prstGeom>
        </p:spPr>
      </p:pic>
      <p:sp>
        <p:nvSpPr>
          <p:cNvPr id="35" name="Shape 22"/>
          <p:cNvSpPr/>
          <p:nvPr/>
        </p:nvSpPr>
        <p:spPr>
          <a:xfrm>
            <a:off x="10538460" y="3886200"/>
            <a:ext cx="365760" cy="36576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36" name="Image 11" descr="/private/tmp/claude-501/-Users-perelmaister-Documents-code-projects-UseIT/23b143a8-fd5c-4764-87e3-345592da782c/scratchpad/icons/check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86009" y="3933749"/>
            <a:ext cx="270662" cy="270662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54864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tracking &amp; rewards</a:t>
            </a:r>
            <a:endParaRPr lang="en-US" sz="1300" dirty="0"/>
          </a:p>
        </p:txBody>
      </p:sp>
      <p:sp>
        <p:nvSpPr>
          <p:cNvPr id="38" name="Shape 24"/>
          <p:cNvSpPr/>
          <p:nvPr/>
        </p:nvSpPr>
        <p:spPr>
          <a:xfrm>
            <a:off x="4640580" y="4453128"/>
            <a:ext cx="365760" cy="365760"/>
          </a:xfrm>
          <a:prstGeom prst="ellipse">
            <a:avLst/>
          </a:prstGeom>
          <a:solidFill>
            <a:srgbClr val="2A323C"/>
          </a:solidFill>
          <a:ln/>
        </p:spPr>
      </p:sp>
      <p:pic>
        <p:nvPicPr>
          <p:cNvPr id="39" name="Image 12" descr="/private/tmp/claude-501/-Users-perelmaister-Documents-code-projects-UseIT/23b143a8-fd5c-4764-87e3-345592da782c/scratchpad/icons/cros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88129" y="4500677"/>
            <a:ext cx="270662" cy="270662"/>
          </a:xfrm>
          <a:prstGeom prst="rect">
            <a:avLst/>
          </a:prstGeom>
        </p:spPr>
      </p:pic>
      <p:sp>
        <p:nvSpPr>
          <p:cNvPr id="40" name="Shape 25"/>
          <p:cNvSpPr/>
          <p:nvPr/>
        </p:nvSpPr>
        <p:spPr>
          <a:xfrm>
            <a:off x="6606540" y="4453128"/>
            <a:ext cx="365760" cy="365760"/>
          </a:xfrm>
          <a:prstGeom prst="ellipse">
            <a:avLst/>
          </a:prstGeom>
          <a:solidFill>
            <a:srgbClr val="2A323C"/>
          </a:solidFill>
          <a:ln/>
        </p:spPr>
      </p:sp>
      <p:pic>
        <p:nvPicPr>
          <p:cNvPr id="41" name="Image 13" descr="/private/tmp/claude-501/-Users-perelmaister-Documents-code-projects-UseIT/23b143a8-fd5c-4764-87e3-345592da782c/scratchpad/icons/cros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54089" y="4500677"/>
            <a:ext cx="270662" cy="270662"/>
          </a:xfrm>
          <a:prstGeom prst="rect">
            <a:avLst/>
          </a:prstGeom>
        </p:spPr>
      </p:pic>
      <p:sp>
        <p:nvSpPr>
          <p:cNvPr id="42" name="Shape 26"/>
          <p:cNvSpPr/>
          <p:nvPr/>
        </p:nvSpPr>
        <p:spPr>
          <a:xfrm>
            <a:off x="8572500" y="4453128"/>
            <a:ext cx="365760" cy="365760"/>
          </a:xfrm>
          <a:prstGeom prst="ellipse">
            <a:avLst/>
          </a:prstGeom>
          <a:solidFill>
            <a:srgbClr val="2A323C"/>
          </a:solidFill>
          <a:ln/>
        </p:spPr>
      </p:sp>
      <p:pic>
        <p:nvPicPr>
          <p:cNvPr id="43" name="Image 14" descr="/private/tmp/claude-501/-Users-perelmaister-Documents-code-projects-UseIT/23b143a8-fd5c-4764-87e3-345592da782c/scratchpad/icons/cros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20049" y="4500677"/>
            <a:ext cx="270662" cy="270662"/>
          </a:xfrm>
          <a:prstGeom prst="rect">
            <a:avLst/>
          </a:prstGeom>
        </p:spPr>
      </p:pic>
      <p:sp>
        <p:nvSpPr>
          <p:cNvPr id="44" name="Shape 27"/>
          <p:cNvSpPr/>
          <p:nvPr/>
        </p:nvSpPr>
        <p:spPr>
          <a:xfrm>
            <a:off x="10538460" y="4453128"/>
            <a:ext cx="365760" cy="36576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45" name="Image 15" descr="/private/tmp/claude-501/-Users-perelmaister-Documents-code-projects-UseIT/23b143a8-fd5c-4764-87e3-345592da782c/scratchpad/icons/check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586009" y="4500677"/>
            <a:ext cx="270662" cy="270662"/>
          </a:xfrm>
          <a:prstGeom prst="rect">
            <a:avLst/>
          </a:prstGeom>
        </p:spPr>
      </p:pic>
      <p:sp>
        <p:nvSpPr>
          <p:cNvPr id="46" name="Text 28"/>
          <p:cNvSpPr txBox="1"/>
          <p:nvPr/>
        </p:nvSpPr>
        <p:spPr>
          <a:xfrm>
            <a:off x="548640" y="49194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in-app payments</a:t>
            </a:r>
            <a:endParaRPr lang="en-US" sz="1300" dirty="0"/>
          </a:p>
        </p:txBody>
      </p:sp>
      <p:sp>
        <p:nvSpPr>
          <p:cNvPr id="47" name="Shape 29"/>
          <p:cNvSpPr/>
          <p:nvPr/>
        </p:nvSpPr>
        <p:spPr>
          <a:xfrm>
            <a:off x="4640580" y="5020056"/>
            <a:ext cx="365760" cy="365760"/>
          </a:xfrm>
          <a:prstGeom prst="ellipse">
            <a:avLst/>
          </a:prstGeom>
          <a:solidFill>
            <a:srgbClr val="2A323C"/>
          </a:solidFill>
          <a:ln/>
        </p:spPr>
      </p:sp>
      <p:pic>
        <p:nvPicPr>
          <p:cNvPr id="48" name="Image 16" descr="/private/tmp/claude-501/-Users-perelmaister-Documents-code-projects-UseIT/23b143a8-fd5c-4764-87e3-345592da782c/scratchpad/icons/cro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88129" y="5067605"/>
            <a:ext cx="270662" cy="270662"/>
          </a:xfrm>
          <a:prstGeom prst="rect">
            <a:avLst/>
          </a:prstGeom>
        </p:spPr>
      </p:pic>
      <p:sp>
        <p:nvSpPr>
          <p:cNvPr id="49" name="Shape 30"/>
          <p:cNvSpPr/>
          <p:nvPr/>
        </p:nvSpPr>
        <p:spPr>
          <a:xfrm>
            <a:off x="6606540" y="5020056"/>
            <a:ext cx="365760" cy="365760"/>
          </a:xfrm>
          <a:prstGeom prst="ellipse">
            <a:avLst/>
          </a:prstGeom>
          <a:solidFill>
            <a:srgbClr val="3A3220"/>
          </a:solidFill>
          <a:ln/>
        </p:spPr>
      </p:sp>
      <p:pic>
        <p:nvPicPr>
          <p:cNvPr id="50" name="Image 17" descr="/private/tmp/claude-501/-Users-perelmaister-Documents-code-projects-UseIT/23b143a8-fd5c-4764-87e3-345592da782c/scratchpad/icons/tild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54089" y="5067605"/>
            <a:ext cx="270662" cy="270662"/>
          </a:xfrm>
          <a:prstGeom prst="rect">
            <a:avLst/>
          </a:prstGeom>
        </p:spPr>
      </p:pic>
      <p:sp>
        <p:nvSpPr>
          <p:cNvPr id="51" name="Shape 31"/>
          <p:cNvSpPr/>
          <p:nvPr/>
        </p:nvSpPr>
        <p:spPr>
          <a:xfrm>
            <a:off x="8572500" y="5020056"/>
            <a:ext cx="365760" cy="36576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52" name="Image 18" descr="/private/tmp/claude-501/-Users-perelmaister-Documents-code-projects-UseIT/23b143a8-fd5c-4764-87e3-345592da782c/scratchpad/icons/check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20049" y="5067605"/>
            <a:ext cx="270662" cy="270662"/>
          </a:xfrm>
          <a:prstGeom prst="rect">
            <a:avLst/>
          </a:prstGeom>
        </p:spPr>
      </p:pic>
      <p:sp>
        <p:nvSpPr>
          <p:cNvPr id="53" name="Shape 32"/>
          <p:cNvSpPr/>
          <p:nvPr/>
        </p:nvSpPr>
        <p:spPr>
          <a:xfrm>
            <a:off x="10538460" y="5020056"/>
            <a:ext cx="365760" cy="36576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54" name="Image 19" descr="/private/tmp/claude-501/-Users-perelmaister-Documents-code-projects-UseIT/23b143a8-fd5c-4764-87e3-345592da782c/scratchpad/icons/check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586009" y="5067605"/>
            <a:ext cx="270662" cy="270662"/>
          </a:xfrm>
          <a:prstGeom prst="rect">
            <a:avLst/>
          </a:prstGeom>
        </p:spPr>
      </p:pic>
      <p:sp>
        <p:nvSpPr>
          <p:cNvPr id="55" name="Text 33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UseIT is purpose-built for rentals: dispute resolution, CO₂ tracking, and a fully native trust + payments layer, localized for Israel from day one.</a:t>
            </a:r>
            <a:endParaRPr lang="en-US" sz="1300" dirty="0"/>
          </a:p>
        </p:txBody>
      </p:sp>
      <p:sp>
        <p:nvSpPr>
          <p:cNvPr id="56" name="Text 3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57" name="Text 35"/>
          <p:cNvSpPr txBox="1"/>
          <p:nvPr/>
        </p:nvSpPr>
        <p:spPr>
          <a:xfrm>
            <a:off x="548640" y="6446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and technology, in parallel.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6" name="Image 0" descr="/private/tmp/claude-501/-Users-perelmaister-Documents-code-projects-UseIT/23b143a8-fd5c-4764-87e3-345592da782c/scratchpad/icons/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24999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468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15468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Lenders — Tel Aviv first, seed the catalog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Renters — community, referrals, reviews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Stick — retention over raw acquisition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2: scale city-by-city → 10,000 users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a $150K pre-seed, ~12-month runway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63640" y="210312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2423160"/>
            <a:ext cx="548640" cy="54864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11" name="Image 1" descr="/private/tmp/claude-501/-Users-perelmaister-Documents-code-projects-UseIT/23b143a8-fd5c-4764-87e3-345592da782c/scratchpad/icons/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70" y="24999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2468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629400" y="315468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KYC (Stripe Identity) for verified users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"listing boost" for lenders (phase 2)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first-pass dispute triage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suite — currently none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distribution beyond direct APK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446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 ·  1 OF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it’s built with — and what fought back.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B24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83280" y="210312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B24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38328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B24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Connect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052560" y="210312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1B243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052560" y="21031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(Llama + Qwen)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611880"/>
            <a:ext cx="640080" cy="640080"/>
          </a:xfrm>
          <a:prstGeom prst="ellipse">
            <a:avLst/>
          </a:prstGeom>
          <a:solidFill>
            <a:srgbClr val="E5484D"/>
          </a:solidFill>
          <a:ln/>
        </p:spPr>
      </p:sp>
      <p:pic>
        <p:nvPicPr>
          <p:cNvPr id="14" name="Image 0" descr="/private/tmp/claude-501/-Users-perelmaister-Documents-code-projects-UseIT/23b143a8-fd5c-4764-87e3-345592da782c/scratchpad/icons/b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" y="3701491"/>
            <a:ext cx="460858" cy="46085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691640" y="3657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bug, and how we found it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42062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AI Auto-Fill feature (a Groq vision model reading a photo) started returning empty results. The model’s reasoning mode was silently burning its entire token budget on invisible chain-of-thought — leaving nothing for the actual answer. The first fix we tried (hiding the reasoning) didn’t work; it still spent the tokens, just off-screen. The real fix was disabling reasoning outright per-request.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446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 ·  2 OF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lives in the database, not just the app.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1B24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6596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931920" y="1965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C6F13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931920" y="196596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B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RLS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0" y="19659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1B24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0" y="196596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Edge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1965960"/>
            <a:ext cx="914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965960"/>
            <a:ext cx="914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315200" y="333756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1B2430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315200" y="333756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 Connect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Groq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3017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↕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892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5780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reads/writes go straight to Postgres — access rules are enforced by the database itself, not application code.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343400" y="4892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functions only for secrets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525780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 functions exist only where a trusted server or a secret key is required — payments, AI calls, admin actions.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89204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Physical-world verification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525780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Pickup/return require a GPS-checked QR scan — confirming both parties were actually present, not just a rating.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46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 ·  3 OF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AI, on both sides of the product.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6" name="Image 0" descr="/private/tmp/claude-501/-Users-perelmaister-Documents-code-projects-UseIT/23b143a8-fd5c-4764-87e3-345592da782c/scratchpad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70" y="24999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468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product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15468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Auto-Fill — a Groq vision model reads one photo and fills title, category, description, and price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Trip Planner — a text model ranks listings against a free-text request and real date availability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models on purpose — one needs vision, the other needs fast, cheap reasoning over text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63640" y="2103120"/>
            <a:ext cx="5349240" cy="4023360"/>
          </a:xfrm>
          <a:prstGeom prst="roundRect">
            <a:avLst>
              <a:gd name="adj" fmla="val 2273"/>
            </a:avLst>
          </a:prstGeom>
          <a:solidFill>
            <a:srgbClr val="151C2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2423160"/>
            <a:ext cx="548640" cy="548640"/>
          </a:xfrm>
          <a:prstGeom prst="ellipse">
            <a:avLst/>
          </a:prstGeom>
          <a:solidFill>
            <a:srgbClr val="C6F135"/>
          </a:solidFill>
          <a:ln/>
        </p:spPr>
      </p:sp>
      <p:pic>
        <p:nvPicPr>
          <p:cNvPr id="11" name="Image 1" descr="/private/tmp/claude-501/-Users-perelmaister-Documents-code-projects-UseIT/23b143a8-fd5c-4764-87e3-345592da782c/scratchpad/icons/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70" y="24999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2468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the product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629400" y="315468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tools helped write and review large parts of the codebase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responsibility for what shipped is ours — not the tool’s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the platform fee silently defaulted to a placeholder split — we caught it against our own decision and fixed it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7 database migrations existed live but were never committed to the repo — we found and backfilled the gap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446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F1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people, one product.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37260" y="2377440"/>
            <a:ext cx="1371600" cy="1371600"/>
          </a:xfrm>
          <a:prstGeom prst="ellipse">
            <a:avLst/>
          </a:prstGeom>
          <a:solidFill>
            <a:srgbClr val="1B2430"/>
          </a:solidFill>
          <a:ln w="19050">
            <a:solidFill>
              <a:srgbClr val="C6F1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7260" y="23774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6F1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 Perelman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/ Mobile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23260" y="2377440"/>
            <a:ext cx="1371600" cy="1371600"/>
          </a:xfrm>
          <a:prstGeom prst="ellipse">
            <a:avLst/>
          </a:prstGeom>
          <a:solidFill>
            <a:srgbClr val="1B2430"/>
          </a:solidFill>
          <a:ln w="19050">
            <a:solidFill>
              <a:srgbClr val="C6F1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23260" y="23774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6F1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NP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39776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Netanel Pam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4343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/ Mobile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509260" y="2377440"/>
            <a:ext cx="1371600" cy="1371600"/>
          </a:xfrm>
          <a:prstGeom prst="ellipse">
            <a:avLst/>
          </a:prstGeom>
          <a:solidFill>
            <a:srgbClr val="1B2430"/>
          </a:solidFill>
          <a:ln w="19050">
            <a:solidFill>
              <a:srgbClr val="C6F13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9260" y="23774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6F1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39776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Michal Pravlov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4343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Strategy &amp; Financial Modeling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95260" y="2377440"/>
            <a:ext cx="1371600" cy="1371600"/>
          </a:xfrm>
          <a:prstGeom prst="ellipse">
            <a:avLst/>
          </a:prstGeom>
          <a:solidFill>
            <a:srgbClr val="1B2430"/>
          </a:solidFill>
          <a:ln w="19050">
            <a:solidFill>
              <a:srgbClr val="C6F13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95260" y="23774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6F1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EBZ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39776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Eden Ben Zion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4343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Analysis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081260" y="2377440"/>
            <a:ext cx="1371600" cy="1371600"/>
          </a:xfrm>
          <a:prstGeom prst="ellipse">
            <a:avLst/>
          </a:prstGeom>
          <a:solidFill>
            <a:srgbClr val="1B2430"/>
          </a:solidFill>
          <a:ln w="19050">
            <a:solidFill>
              <a:srgbClr val="C6F13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81260" y="237744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6F1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NZ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39776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Nitzan Zetun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43434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&amp; Narrative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engineering, market research, financial modeling, and pitch strategy — the full path from a working product to a defensible business.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446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UseIt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2194560"/>
            <a:ext cx="12161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</a:t>
            </a:r>
            <a:pPr algn="ctr" indent="0" marL="0">
              <a:buNone/>
            </a:pPr>
            <a:r>
              <a:rPr lang="en-US" sz="6000" b="1" dirty="0">
                <a:solidFill>
                  <a:srgbClr val="C6F1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0" y="3291840"/>
            <a:ext cx="1216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8B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it. Don’t waste it.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623560" y="4206240"/>
            <a:ext cx="548640" cy="548640"/>
          </a:xfrm>
          <a:prstGeom prst="ellipse">
            <a:avLst/>
          </a:prstGeom>
          <a:solidFill>
            <a:srgbClr val="1B2430"/>
          </a:solidFill>
          <a:ln/>
        </p:spPr>
      </p:sp>
      <p:pic>
        <p:nvPicPr>
          <p:cNvPr id="5" name="Image 0" descr="/private/tmp/claude-501/-Users-perelmaister-Documents-code-projects-UseIT/23b143a8-fd5c-4764-87e3-345592da782c/scratchpad/icons/git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0370" y="4283050"/>
            <a:ext cx="395021" cy="39502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0" y="489204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github.com/pamnati592/UseIT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2026-09-06T13:36:20Z</dcterms:created>
  <dcterms:modified xsi:type="dcterms:W3CDTF">2026-09-06T13:36:20Z</dcterms:modified>
</cp:coreProperties>
</file>